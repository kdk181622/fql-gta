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Paired Wilcoxon p = 3.54e-08, Cohen's d = 2.51 -- a large, statistically robust effect. The two agents use different learning rates by frozen config (baseline alpha=0.3, GTA alpha=0.2); a dedicated sweep tuning the baseline's alpha finds the best baseline still loses by a large, significant margin (d=2.50), so the result is not a learning-rate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FQL-GTA crosses the solve threshold mid-training in most seeds but only holds it through episode 500 in 40% -- motivating the strict final-trailing-window solve definition over first-crossing.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Best single-component condition reaches only 281 trailing-50 return; the full combination reaches a mean of 477 across its 3 seeds, but only 2 of 3 individual seeds actually cross the 475 bar -- the mean exceeds it, not every seed. A formal factorial effect analysis (next section) shows this is driven by significant Gaussian-MF x eligibility-trace and Gaussian-MF x adaptive-epsilon two-way interaction effects, with no significant three-way interaction.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Gaussian width multiplier shows the sharpest cliff: values &gt;= 0.5 collapse performance to near-random by over-activating every rule for every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Acrobot-v1 zero-shot trailing-50 is far below its practical solve bar; a disjoint-validation-seed coordinate search (same cost as the sensitivity sweep) nearly reaches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PPO wins on final return but uses ~14x FQL-GTA's parameters and ~14x the memory. Both DQN variants under-perform FQL-GTA within this study's training budget -- a budget-dependent finding, not a general claim about DQN.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8686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 Systematically Evaluated Interpretable Enhancement to Fuzzy Q-Learning</a:t>
            </a:r>
          </a:p>
          <a:p>
            <a:pPr>
              <a:spcBef>
                <a:spcPts val="1400"/>
              </a:spcBef>
              <a:defRPr sz="1500">
                <a:solidFill>
                  <a:srgbClr val="CCD3E0"/>
                </a:solidFill>
              </a:defRPr>
            </a:pPr>
            <a:r>
              <a:t>Gaussian membership functions, eligibility traces, and adaptive exploration on CartPole-v1</a:t>
            </a:r>
            <a:br/>
            <a:r>
              <a:t>Karthikeyan K  |  MS AI&amp;ML, REVA University  |  Advisor: Dr. J. B. Simha</a:t>
            </a:r>
            <a:br/>
            <a:r>
              <a:t>Manuscript prepared for journal submission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2920" y="371425"/>
            <a:ext cx="1657350" cy="16573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K_Profile_Pic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495" y="400000"/>
            <a:ext cx="16002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Two Research Questions, Tested Not Assumed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RQ1: Does combining Gaussian membership functions, Q(lambda) eligibility traces, and adaptive epsilon produce a statistically defensible improvement over classical FQL, attributable to the combination rather than any single component?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RQ2: Do CartPole-tuned FQL-GTA hyperparameters transfer zero-shot to other control environments, or is per-environment retuning necessary?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Both are answered empirically, including the ablation's honest statistical-power limitation and the weak zero-shot transfer result.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Why Fuzzy Q-Learning, When Deep RL Dominates Benchmarks?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Deep RL policies (DQN, PPO) are opaque -- a trained network cannot be audited rule by rule, which matters in safety- and compliance-sensitive control settings.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Classical FQL (Jouffe, 1998) is inspectable by design: every decision traces back to specific fuzzy rules and their firing strengths.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But the classical formulation uses triangular membership functions, one-step TD updates, and fixed exploration -- design choices this study revisits directly.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RQ1: Primary Comparison, 30 Seeds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14300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Final return (mean ± SD)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Solve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95% CI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Baseline FQL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265.7 ± 41.2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[250.3, 281.1]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Improved FQL-GTA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423.1 ± 78.7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[393.7, 452.5]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Learning Curves, All 30 Seeds</a:t>
            </a:r>
          </a:p>
        </p:txBody>
      </p:sp>
      <p:pic>
        <p:nvPicPr>
          <p:cNvPr id="4" name="Picture 3" descr="fig1_lear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271" y="1143000"/>
            <a:ext cx="9217152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008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Mean ± 95% CI, 30 seeds per agent.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Full 2³ Factorial Ablation: No Single Component Solves It Alone</a:t>
            </a:r>
          </a:p>
        </p:txBody>
      </p:sp>
      <p:pic>
        <p:nvPicPr>
          <p:cNvPr id="4" name="Picture 3" descr="fig14_ablation_factor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11643055" cy="4312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008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All 8 combinations of Gaussian MF / eligibility trace / adaptive epsilon, 3 seeds each.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Statistics, Including the Honest Power 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Primary comparison: Shapiro-Wilk rejects normality for both agents, so the paired Wilcoxon test (p = 3.54e-08) is the primary evidence, not the t-test.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Ablation: a Friedman omnibus test across all 8 conditions is significant (chi-sq = 18.3, p = 0.011), confirming a real overall effect.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But with only 3 seeds per condition, 0 of 28 Holm-corrected pairwise Wilcoxon comparisons reach significance individually -- reported plainly as a power limitation, not hidden.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10,000-resample bootstrap 95% CIs are reported alongside every point estimate.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Hyperparameters Sit at Pronounced Performance Peaks</a:t>
            </a:r>
          </a:p>
        </p:txBody>
      </p:sp>
      <p:pic>
        <p:nvPicPr>
          <p:cNvPr id="4" name="Picture 3" descr="fig15_hyperparameter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11643055" cy="35330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008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One-factor-at-a-time sweeps, CartPole-tuned default marked on each panel.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RQ2: Zero-Shot Transfer Is Weak; Retuning Recovers Most of the Gap</a:t>
            </a:r>
          </a:p>
        </p:txBody>
      </p:sp>
      <p:pic>
        <p:nvPicPr>
          <p:cNvPr id="4" name="Picture 3" descr="fig16_cross_env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709" y="1143000"/>
            <a:ext cx="8370277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008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MountainCar-v0 and Acrobot-v1, zero-shot vs. per-environment coordinate-search tuning.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058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Against Deep-RL Baselines: A Trade, Not a Win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14300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Final return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Solve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Train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Memory (KB)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Baseline FQL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271.7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2.53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Improved FQL-GTA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429.3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2.53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DQN (hand-rolled)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194.3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173.9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18.01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DQN (stable-baselines3)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184.9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154.7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36.02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PPO (stable-baselines3)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496.6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157.2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35.76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Interpretability: One Real Decision, Fully Traced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Real state from a trained agent's evaluation rollout: [0.028, -0.033, 0.021, 0.025].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4 of 324 rules fire above 0.01 -- local specialisation, not uniform activation across the whole rule base.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Dominant rule (index 165) fires at 44.5% strength with Q(left) = 102.65, Q(right) = 100.28.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Blended decision: Q(left) = 98.22, Q(right) = 98.01 -&gt; "push cart left".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This traceability is the concrete evidence behind the paper's reframed novelty claim: not new ingredients, but a systematically evaluated, inspectable combination.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RQ1 answered: the combination produces a large, statistically robust improvement (d = 2.51). A factorial effect analysis finds significant Gaussian-MF x eligibility-trace and Gaussian-MF x adaptive-epsilon two-way interaction effects, with no significant three-way interaction -- with the ablation's pairwise power limitation reported honestly.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RQ2 answered: CartPole-tuned hyperparameters do not transfer zero-shot, but a lightweight, cheap coordinate search recovers most of the lost performance.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Against deep RL: FQL-GTA trades some final performance for an order-of-magnitude smaller parameter count, faster training, and full rule-level interpretability.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</a:defRPr>
            </a:pPr>
            <a:r>
              <a:t>• Contribution is deliberately modest: not new ingredients, but a systematically evaluated, statistically validated, reproducible enhancement to a 26-year-old method.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8686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>
              <a:spcBef>
                <a:spcPts val="1400"/>
              </a:spcBef>
              <a:defRPr sz="1500">
                <a:solidFill>
                  <a:srgbClr val="CCD3E0"/>
                </a:solidFill>
              </a:defRPr>
            </a:pPr>
            <a:r>
              <a:t>Questions welcome. Code, configuration, results, and manuscript accompany this presentation.</a:t>
            </a:r>
            <a:br/>
            <a:r>
              <a:t>Manuscript prepared for journal submission. DOI: Not yet assigned.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